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North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2910054</c:v>
                </c:pt>
                <c:pt idx="1">
                  <c:v>2593097</c:v>
                </c:pt>
                <c:pt idx="2">
                  <c:v>2463350</c:v>
                </c:pt>
                <c:pt idx="3">
                  <c:v>2357197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B9-443E-A1E3-8B10F33BF9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25-481C-8EF3-79F9232FD221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25-481C-8EF3-79F9232FD221}"/>
              </c:ext>
            </c:extLst>
          </c:dPt>
          <c:dPt>
            <c:idx val="2"/>
            <c:bubble3D val="0"/>
            <c:spPr>
              <a:solidFill>
                <a:srgbClr val="212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25-481C-8EF3-79F9232FD221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25-481C-8EF3-79F9232FD221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25-481C-8EF3-79F9232FD221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625-481C-8EF3-79F9232FD221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35.200000000000003</c:v>
                </c:pt>
                <c:pt idx="1">
                  <c:v>34</c:v>
                </c:pt>
                <c:pt idx="2">
                  <c:v>30.8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25-481C-8EF3-79F9232FD2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129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1000639</c:v>
                </c:pt>
                <c:pt idx="1">
                  <c:v>754709</c:v>
                </c:pt>
                <c:pt idx="2">
                  <c:v>875122</c:v>
                </c:pt>
                <c:pt idx="3">
                  <c:v>844637</c:v>
                </c:pt>
                <c:pt idx="4">
                  <c:v>1087348</c:v>
                </c:pt>
                <c:pt idx="5">
                  <c:v>858593</c:v>
                </c:pt>
                <c:pt idx="6">
                  <c:v>790059</c:v>
                </c:pt>
                <c:pt idx="7">
                  <c:v>795408</c:v>
                </c:pt>
                <c:pt idx="8">
                  <c:v>833485</c:v>
                </c:pt>
                <c:pt idx="9">
                  <c:v>837914</c:v>
                </c:pt>
                <c:pt idx="10">
                  <c:v>924476</c:v>
                </c:pt>
                <c:pt idx="11">
                  <c:v>721309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80-48C0-BE17-2EC69D1EA7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69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572000"/>
            <a:ext cx="3291840" cy="329184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view of 1,000 retail orders across regions, categories, and customer satisfaction — built in Excel with PivotTables, PivotCharts, and interactive slicers.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|  Excel Dashboard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Deepti 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was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revenue coming from?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and categories drive performance — and which underperform?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demand seasonal?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2735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sales volume shift month to month, and where are the peaks and dips?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customers still satisfied?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6451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satisfaction holding steady as sales volume scales?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self-service Excel dashboard so stakeholders can answer these questions without requesting a new report every time.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into the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Dec 2025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coverage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regions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South, East, West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categories, 9 products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Furniture, Office Supplies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166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fields/order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5166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revenue &amp; satisfaction score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3591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2128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— data cleaning &amp; structured tables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296265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1635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&amp; PivotCharts for dynamic analysis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35661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41985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Timelines for interactive filtering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416966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0233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 / AVERAGEIFS / COUNTIFS formulas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47731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6268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for visual flags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5376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52303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for clean categorical inputs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performance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E7A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₹1.03 Cr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E7A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13,321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E7A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9720" y="20116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E7A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4.01 / 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8972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Satisfaction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 leads revenue (28.2% share) · Electronics is the top category (35.2% share) · Revenue peaked in May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region, full year 2025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₹29.1L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92440" y="2240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is the top-performing region — 28.2% of total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8120" y="306324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4F7F9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pts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9244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Revenue-share gap between South (top) and East (bottom)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457200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4983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South's pricing &amp; promotion playbook and pilot it in East, the lowest-performing region.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Product Mix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and top-selling products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205740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/>
        </p:spPr>
      </p:sp>
      <p:sp>
        <p:nvSpPr>
          <p:cNvPr id="7" name="Text 4"/>
          <p:cNvSpPr/>
          <p:nvPr/>
        </p:nvSpPr>
        <p:spPr>
          <a:xfrm>
            <a:off x="6080760" y="20574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0" y="20574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509760" y="205740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₹12,91,249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715768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27157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92240" y="271576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509760" y="271576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₹12,68,985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374136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337413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37413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509760" y="33741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₹12,62,283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4032504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080760" y="403250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403250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509760" y="403250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₹12,52,917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0" y="4690872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/>
        </p:spPr>
      </p:sp>
      <p:sp>
        <p:nvSpPr>
          <p:cNvPr id="23" name="Text 20"/>
          <p:cNvSpPr/>
          <p:nvPr/>
        </p:nvSpPr>
        <p:spPr>
          <a:xfrm>
            <a:off x="6080760" y="469087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92240" y="469087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509760" y="469087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₹12,48,242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0" y="54864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high-value items (Laptop, Tablet) and high-frequency items (Pen) are meaningful revenue drivers — a balanced mix worth protecting in inventory planning.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 &amp; Customer Satisfaction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across 2025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589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May (₹10.9L)   ·   Lowest: December (₹7.2L)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412480" y="155448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0" y="23774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4.01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686800" y="3429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5, stable across all regions &amp; categories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0" y="4297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has not come at the cost of customer experience.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394960"/>
            <a:ext cx="7589520" cy="54864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December's dip despite the holiday season is worth investigating — check for stock availability and promotional timing gaps.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December dip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stock availability and promotional calendar gaps against the holiday season.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South's success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South region's pricing &amp; promotion approach to East, the lowest-performing region.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balanced category mix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42519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investment across Electronics and Office Supplies — the two strongest, most stable categories.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Deepti R   ·   deeptiravishankar92@gmail.com   ·   https://www.linkedin.com/in/deepti-shendre-58a881227   ·   https://github.com/Deepti-Ravishankar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554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deepti ravishankar</cp:lastModifiedBy>
  <cp:revision>3</cp:revision>
  <dcterms:created xsi:type="dcterms:W3CDTF">2026-08-17T06:34:53Z</dcterms:created>
  <dcterms:modified xsi:type="dcterms:W3CDTF">2026-08-17T06:58:23Z</dcterms:modified>
</cp:coreProperties>
</file>